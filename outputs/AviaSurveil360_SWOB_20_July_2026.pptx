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6042aeb1b44826" /><Relationship Type="http://schemas.openxmlformats.org/officeDocument/2006/relationships/extended-properties" Target="/docProps/app.xml" Id="R2b5abb07d28b44b9" /><Relationship Type="http://schemas.openxmlformats.org/officeDocument/2006/relationships/officeDocument" Target="/ppt/presentation.xml" Id="R0e00e3d5b3f84e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2c2aed20e64038"/>
  </p:sldMasterIdLst>
  <p:notesMasterIdLst>
    <p:notesMasterId xmlns:r="http://schemas.openxmlformats.org/officeDocument/2006/relationships" r:id="R67b752cafb5145ff"/>
  </p:notesMasterIdLst>
  <p:sldIdLst>
    <p:sldId xmlns:r="http://schemas.openxmlformats.org/officeDocument/2006/relationships" id="256" r:id="R158588f699fa400e"/>
    <p:sldId xmlns:r="http://schemas.openxmlformats.org/officeDocument/2006/relationships" id="257" r:id="Rcbb80adc3fba42e8"/>
    <p:sldId xmlns:r="http://schemas.openxmlformats.org/officeDocument/2006/relationships" id="258" r:id="R8e8d055e6c6440d8"/>
    <p:sldId xmlns:r="http://schemas.openxmlformats.org/officeDocument/2006/relationships" id="259" r:id="R4ac3382609a84f61"/>
    <p:sldId xmlns:r="http://schemas.openxmlformats.org/officeDocument/2006/relationships" id="260" r:id="Re3d527584cc84367"/>
    <p:sldId xmlns:r="http://schemas.openxmlformats.org/officeDocument/2006/relationships" id="261" r:id="Rabcedfd149d3497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a14726e00f4069" /><Relationship Type="http://schemas.openxmlformats.org/officeDocument/2006/relationships/slideMaster" Target="/ppt/slideMasters/slideMaster1.xml" Id="R6e2c2aed20e64038" /><Relationship Type="http://schemas.openxmlformats.org/officeDocument/2006/relationships/notesMaster" Target="/ppt/notesMasters/notesMaster1.xml" Id="R67b752cafb5145ff" /><Relationship Type="http://schemas.openxmlformats.org/officeDocument/2006/relationships/presProps" Target="/ppt/presProps.xml" Id="R95ba2e9c1553408c" /><Relationship Type="http://schemas.openxmlformats.org/officeDocument/2006/relationships/tableStyles" Target="/ppt/tableStyles.xml" Id="Ra21affce489744e6" /><Relationship Type="http://schemas.openxmlformats.org/officeDocument/2006/relationships/slide" Target="/ppt/slides/slide1.xml" Id="R158588f699fa400e" /><Relationship Type="http://schemas.openxmlformats.org/officeDocument/2006/relationships/slide" Target="/ppt/slides/slide2.xml" Id="Rcbb80adc3fba42e8" /><Relationship Type="http://schemas.openxmlformats.org/officeDocument/2006/relationships/slide" Target="/ppt/slides/slide3.xml" Id="R8e8d055e6c6440d8" /><Relationship Type="http://schemas.openxmlformats.org/officeDocument/2006/relationships/slide" Target="/ppt/slides/slide4.xml" Id="R4ac3382609a84f61" /><Relationship Type="http://schemas.openxmlformats.org/officeDocument/2006/relationships/slide" Target="/ppt/slides/slide5.xml" Id="Re3d527584cc84367" /><Relationship Type="http://schemas.openxmlformats.org/officeDocument/2006/relationships/slide" Target="/ppt/slides/slide6.xml" Id="Rabcedfd149d349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d268db86df41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21339fc4234fc5" /><Relationship Type="http://schemas.openxmlformats.org/officeDocument/2006/relationships/notesMaster" Target="/ppt/notesMasters/notesMaster1.xml" Id="R1b5e3794d12946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c85a0a9d5340e3" /><Relationship Type="http://schemas.openxmlformats.org/officeDocument/2006/relationships/notesMaster" Target="/ppt/notesMasters/notesMaster1.xml" Id="R12135715ab454b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90d00435d94f77" /><Relationship Type="http://schemas.openxmlformats.org/officeDocument/2006/relationships/notesMaster" Target="/ppt/notesMasters/notesMaster1.xml" Id="Rc1c472f2218c43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ef5dd8e3384a00" /><Relationship Type="http://schemas.openxmlformats.org/officeDocument/2006/relationships/notesMaster" Target="/ppt/notesMasters/notesMaster1.xml" Id="R6e209e5aba1b40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2c4dfe59194fc7" /><Relationship Type="http://schemas.openxmlformats.org/officeDocument/2006/relationships/notesMaster" Target="/ppt/notesMasters/notesMaster1.xml" Id="R328a7eb0c4254e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6fa2cba61b4fba" /><Relationship Type="http://schemas.openxmlformats.org/officeDocument/2006/relationships/notesMaster" Target="/ppt/notesMasters/notesMaster1.xml" Id="Reff56af6a29943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 AviaSurveil360'ın Inspector Auditing ve Findings Tracking akışını tanıtıyor.</a:t>
            </a:r>
          </a:p>
          <a:p xmlns:a="http://schemas.openxmlformats.org/drawingml/2006/main">
            <a:r>
              <a:t>PEL / AviaLicense ayrı bir ürün hattı; bu kısa sunumun kapsamına dahil değil.</a:t>
            </a:r>
          </a:p>
          <a:p xmlns:a="http://schemas.openxmlformats.org/drawingml/2006/main">
            <a:r>
              <a:t>Ana mesaj: planlamadan doğrulanmış kapanışa kadar tek, izlenebilir bir iş akışı.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Sorun denetimin yapılmaması değil; denetimden sonraki sorumluluk zincirinin dağılması.</a:t>
            </a:r>
          </a:p>
          <a:p xmlns:a="http://schemas.openxmlformats.org/drawingml/2006/main">
            <a:r>
              <a:t>AviaSurveil360 her Finding için owner, next action, Due Date ve geçmişi aynı kayıtta tutar.</a:t>
            </a:r>
          </a:p>
          <a:p xmlns:a="http://schemas.openxmlformats.org/drawingml/2006/main">
            <a:r>
              <a:t>Amaç genel bir checklist uygulaması yapmak değil; CAP ve Evidence takibini kapanışa kadar yönetmek.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Akış şeması ürünün tamamını özetliyor: Plan, Schedule, Inspect, Finding, CAP, Evidence, CAA Review ve Closure.</a:t>
            </a:r>
          </a:p>
          <a:p xmlns:a="http://schemas.openxmlformats.org/drawingml/2006/main">
            <a:r>
              <a:t>Sorumluluk Inspector ile Auditee arasında değişirken kayıt ve geçmiş aynı kalıyor.</a:t>
            </a:r>
          </a:p>
          <a:p xmlns:a="http://schemas.openxmlformats.org/drawingml/2006/main">
            <a:r>
              <a:t>Kritik kural: CAP kabul edilince Finding kapanmaz; Evidence doğrulanmalı veya ayrı yetkili kapanış yolu kullanılmalı.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Ürün üç ana soruya göre tasarlandı.</a:t>
            </a:r>
          </a:p>
          <a:p xmlns:a="http://schemas.openxmlformats.org/drawingml/2006/main">
            <a:r>
              <a:t>Manager risk, gecikme ve iş yükünü görür; Inspector günlük denetim ve review işini yürütür; Auditee yalnızca kendi kuruluşunun taleplerini görür.</a:t>
            </a:r>
          </a:p>
          <a:p xmlns:a="http://schemas.openxmlformats.org/drawingml/2006/main">
            <a:r>
              <a:t>Internal CAA Note ile Comment to Auditee ayrı tutulur; Auditee iç CAA değerlendirmelerini göremez.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senaryosu Fly Namibia Cabin Inspection üzerinden ilerliyor.</a:t>
            </a:r>
          </a:p>
          <a:p xmlns:a="http://schemas.openxmlformats.org/drawingml/2006/main">
            <a:r>
              <a:t>Inspector PBE checklist sorusunu Non-Compliant işaretlediğinde Finding oluşuyor.</a:t>
            </a:r>
          </a:p>
          <a:p xmlns:a="http://schemas.openxmlformats.org/drawingml/2006/main">
            <a:r>
              <a:t>Service Provider CAP ve Evidence gönderiyor; Inspector Evidence'i kabul edince Finding kapanıyor ve Manager görünümü güncelleniyor.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Sunumu üç doğrulama sorusuyla kapatıyorum.</a:t>
            </a:r>
          </a:p>
          <a:p xmlns:a="http://schemas.openxmlformats.org/drawingml/2006/main">
            <a:r>
              <a:t>Bir: rol ve onay sahipliği doğru mu? İki: severity, CAP, Evidence ve closure kuralları uygun mu? Üç: MVP'de hangi modüller öncelikli olmalı?</a:t>
            </a:r>
          </a:p>
          <a:p xmlns:a="http://schemas.openxmlformats.org/drawingml/2006/main">
            <a:r>
              <a:t>Yanıtları canlı akış üzerinde Manager, Inspector ve Service Provider adımlarıyla göstereceğiz.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dd1bc4a904c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40ceaf23394fb6" /><Relationship Type="http://schemas.openxmlformats.org/officeDocument/2006/relationships/slideLayout" Target="/ppt/slideLayouts/slideLayout1.xml" Id="Rc42bc6c733ac4a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2bc6c733ac4a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568a337884ed5" /><Relationship Type="http://schemas.openxmlformats.org/officeDocument/2006/relationships/image" Target="/ppt/media/image.png" Id="R65a80aa2e7c441b1" /><Relationship Type="http://schemas.openxmlformats.org/officeDocument/2006/relationships/image" Target="/ppt/media/image2.png" Id="R7b0076f7eb7f45fa" /><Relationship Type="http://schemas.openxmlformats.org/officeDocument/2006/relationships/notesSlide" Target="/ppt/notesSlides/notesSlide1.xml" Id="R40217ff44bf149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36b2317d14a4a" /><Relationship Type="http://schemas.openxmlformats.org/officeDocument/2006/relationships/notesSlide" Target="/ppt/notesSlides/notesSlide2.xml" Id="R2b62110496584a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0d43385024f57" /><Relationship Type="http://schemas.openxmlformats.org/officeDocument/2006/relationships/notesSlide" Target="/ppt/notesSlides/notesSlide3.xml" Id="R03a8ae78852049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ffd51c5674bb3" /><Relationship Type="http://schemas.openxmlformats.org/officeDocument/2006/relationships/notesSlide" Target="/ppt/notesSlides/notesSlide4.xml" Id="Rb2425a8e5aff4f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a334f9df145c3" /><Relationship Type="http://schemas.openxmlformats.org/officeDocument/2006/relationships/image" Target="/ppt/media/image.jpeg" Id="R8f61f06eb6424300" /><Relationship Type="http://schemas.openxmlformats.org/officeDocument/2006/relationships/image" Target="/ppt/media/image2.jpeg" Id="Rf10bd815cc604a79" /><Relationship Type="http://schemas.openxmlformats.org/officeDocument/2006/relationships/image" Target="/ppt/media/image3.jpeg" Id="R70bc755bf2334530" /><Relationship Type="http://schemas.openxmlformats.org/officeDocument/2006/relationships/notesSlide" Target="/ppt/notesSlides/notesSlide5.xml" Id="R82ecf6a12fad49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aefea82024eb0" /><Relationship Type="http://schemas.openxmlformats.org/officeDocument/2006/relationships/notesSlide" Target="/ppt/notesSlides/notesSlide6.xml" Id="R6d35b50f58034c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80aa2e7c441b1"/>
          <a:srcRect xmlns:a="http://schemas.openxmlformats.org/drawingml/2006/main" l="0" t="10792" r="0" b="107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076f7eb7f45fa"/>
          <a:stretch xmlns:a="http://schemas.openxmlformats.org/drawingml/2006/main"/>
        </p:blipFill>
        <p:spPr>
          <a:xfrm xmlns:a="http://schemas.openxmlformats.org/drawingml/2006/main">
            <a:off x="8591550" y="1752600"/>
            <a:ext cx="2095500" cy="2095500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3" name="cover-image-tint">
            <a:extLst xmlns:a="http://schemas.openxmlformats.org/drawingml/2006/main">
              <a:ext uri="{FF2B5EF4-FFF2-40B4-BE49-F238E27FC236}">
                <a16:creationId xmlns:a16="http://schemas.microsoft.com/office/drawing/2014/main" id="{5B61C706-9F06-4A9A-B8E3-D618A304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51D8873-1847-42E0-8408-8E53F424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542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D6"/>
                </a:solidFill>
                <a:latin typeface="Helvetica Neue"/>
                <a:ea typeface="Helvetica Neue"/>
                <a:cs typeface="Helvetica Neue"/>
              </a:defRPr>
            </a:pPr>
            <a:r>
              <a:t>SWOB MEETING  •  20 JULY 2026  •  MS TEAMS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7CD75F4-0CCA-44CF-B945-351E6F1F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5905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AviaSurveil360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5F52CA5-6845-4C13-95E8-875FE4E9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5715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t>Inspector Auditing &amp;
Findings Tracking</a:t>
            </a:r>
          </a:p>
        </p:txBody>
      </p:sp>
      <p:sp>
        <p:nvSpPr>
          <p:cNvPr id="7" name="cover-rule">
            <a:extLst xmlns:a="http://schemas.openxmlformats.org/drawingml/2006/main">
              <a:ext uri="{FF2B5EF4-FFF2-40B4-BE49-F238E27FC236}">
                <a16:creationId xmlns:a16="http://schemas.microsoft.com/office/drawing/2014/main" id="{63B74BB0-1F5E-4C24-A3A8-B1CB36DE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628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CBA61463-8F7D-4665-B623-7E22764E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5524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1506A"/>
                </a:solidFill>
                <a:latin typeface="Helvetica Neue"/>
                <a:ea typeface="Helvetica Neue"/>
                <a:cs typeface="Helvetica Neue"/>
              </a:defRPr>
            </a:pPr>
            <a:r>
              <a:t>A role-based Civil Aviation Authority oversight workbench</a:t>
            </a:r>
          </a:p>
        </p:txBody>
      </p:sp>
      <p:sp>
        <p:nvSpPr>
          <p:cNvPr id="9" name="cover-product-scope">
            <a:extLst xmlns:a="http://schemas.openxmlformats.org/drawingml/2006/main">
              <a:ext uri="{FF2B5EF4-FFF2-40B4-BE49-F238E27FC236}">
                <a16:creationId xmlns:a16="http://schemas.microsoft.com/office/drawing/2014/main" id="{E943EC55-E83C-4F41-96D8-B1A18E13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523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891"/>
                </a:solidFill>
                <a:latin typeface="Helvetica Neue"/>
                <a:ea typeface="Helvetica Neue"/>
                <a:cs typeface="Helvetica Neue"/>
              </a:defRPr>
            </a:pPr>
            <a:r>
              <a:t>SURVEILLANCE  •  AUDITS  •  FINDINGS  •  CAP  •  EVIDENCE</a:t>
            </a:r>
          </a:p>
        </p:txBody>
      </p:sp>
    </p:spTree>
    <p:extLst>
      <p:ext uri="{BB962C8B-B14F-4D97-AF65-F5344CB8AC3E}">
        <p14:creationId xmlns:p14="http://schemas.microsoft.com/office/powerpoint/2010/main" val="4209471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40E5E528-70D4-423D-864D-E3C64FE0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Oversight breaks when responsibility disappears between tools</a:t>
            </a:r>
          </a:p>
        </p:txBody>
      </p:sp>
      <p:sp>
        <p:nvSpPr>
          <p:cNvPr id="2" name="problem-intro">
            <a:extLst xmlns:a="http://schemas.openxmlformats.org/drawingml/2006/main">
              <a:ext uri="{FF2B5EF4-FFF2-40B4-BE49-F238E27FC236}">
                <a16:creationId xmlns:a16="http://schemas.microsoft.com/office/drawing/2014/main" id="{1239F25F-FADB-4176-B98D-E8B01F59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41506A"/>
                </a:solidFill>
                <a:latin typeface="Helvetica Neue"/>
                <a:ea typeface="Helvetica Neue"/>
                <a:cs typeface="Helvetica Neue"/>
              </a:defRPr>
            </a:pPr>
            <a:r>
              <a:t>The inspection may be complete, but the authority still needs to know who owns the response, what is due, and what evidence proves closure.</a:t>
            </a:r>
          </a:p>
        </p:txBody>
      </p:sp>
      <p:sp>
        <p:nvSpPr>
          <p:cNvPr id="3" name="fragmented-panel">
            <a:extLst xmlns:a="http://schemas.openxmlformats.org/drawingml/2006/main">
              <a:ext uri="{FF2B5EF4-FFF2-40B4-BE49-F238E27FC236}">
                <a16:creationId xmlns:a16="http://schemas.microsoft.com/office/drawing/2014/main" id="{3E952DEB-0FF6-4FDC-A69B-7AA429FD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5334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E0E9"/>
            </a:solidFill>
            <a:prstDash val="solid"/>
          </a:ln>
        </p:spPr>
      </p:sp>
      <p:sp>
        <p:nvSpPr>
          <p:cNvPr id="4" name="traceable-panel">
            <a:extLst xmlns:a="http://schemas.openxmlformats.org/drawingml/2006/main">
              <a:ext uri="{FF2B5EF4-FFF2-40B4-BE49-F238E27FC236}">
                <a16:creationId xmlns:a16="http://schemas.microsoft.com/office/drawing/2014/main" id="{C39FB657-70B1-4FAD-B87E-0C3E9BBA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53530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4F86E0"/>
            </a:solidFill>
            <a:prstDash val="solid"/>
          </a:ln>
        </p:spPr>
      </p:sp>
      <p:sp>
        <p:nvSpPr>
          <p:cNvPr id="5" name="fragmented-label">
            <a:extLst xmlns:a="http://schemas.openxmlformats.org/drawingml/2006/main">
              <a:ext uri="{FF2B5EF4-FFF2-40B4-BE49-F238E27FC236}">
                <a16:creationId xmlns:a16="http://schemas.microsoft.com/office/drawing/2014/main" id="{2CC311C0-757D-4F8F-8B9D-D4D1BC95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392B"/>
                </a:solidFill>
                <a:latin typeface="Helvetica Neue"/>
                <a:ea typeface="Helvetica Neue"/>
                <a:cs typeface="Helvetica Neue"/>
              </a:defRPr>
            </a:pPr>
            <a:r>
              <a:t>DISCONNECTED TODAY</a:t>
            </a:r>
          </a:p>
        </p:txBody>
      </p:sp>
      <p:sp>
        <p:nvSpPr>
          <p:cNvPr id="6" name="fragmented-list">
            <a:extLst xmlns:a="http://schemas.openxmlformats.org/drawingml/2006/main">
              <a:ext uri="{FF2B5EF4-FFF2-40B4-BE49-F238E27FC236}">
                <a16:creationId xmlns:a16="http://schemas.microsoft.com/office/drawing/2014/main" id="{B0F83ED9-7BE5-4123-88CF-4A16B90D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4476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Plans in spreadsheets
Checklists and reports in files
CAP responses in email
Evidence in shared folders</a:t>
            </a:r>
          </a:p>
        </p:txBody>
      </p:sp>
      <p:sp>
        <p:nvSpPr>
          <p:cNvPr id="7" name="traceable-label">
            <a:extLst xmlns:a="http://schemas.openxmlformats.org/drawingml/2006/main">
              <a:ext uri="{FF2B5EF4-FFF2-40B4-BE49-F238E27FC236}">
                <a16:creationId xmlns:a16="http://schemas.microsoft.com/office/drawing/2014/main" id="{E8962D53-81E7-423A-A5FF-D591C1B5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D6"/>
                </a:solidFill>
                <a:latin typeface="Helvetica Neue"/>
                <a:ea typeface="Helvetica Neue"/>
                <a:cs typeface="Helvetica Neue"/>
              </a:defRPr>
            </a:pPr>
            <a:r>
              <a:t>WITH AVIASURVEIL360</a:t>
            </a:r>
          </a:p>
        </p:txBody>
      </p:sp>
      <p:sp>
        <p:nvSpPr>
          <p:cNvPr id="8" name="traceable-list">
            <a:extLst xmlns:a="http://schemas.openxmlformats.org/drawingml/2006/main">
              <a:ext uri="{FF2B5EF4-FFF2-40B4-BE49-F238E27FC236}">
                <a16:creationId xmlns:a16="http://schemas.microsoft.com/office/drawing/2014/main" id="{9019F964-39F9-4BCC-AE94-EF04127D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81350"/>
            <a:ext cx="4476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t>One record
One current owner
One next action and Due Date
One preserved evidence history</a:t>
            </a:r>
          </a:p>
        </p:txBody>
      </p:sp>
      <p:sp>
        <p:nvSpPr>
          <p:cNvPr id="9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7F9D106A-974D-4095-9622-575F883C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B7891"/>
                </a:solidFill>
                <a:latin typeface="Helvetica Neue"/>
                <a:ea typeface="Helvetica Neue"/>
                <a:cs typeface="Helvetica Neue"/>
              </a:defRPr>
            </a:pPr>
            <a:r>
              <a:t>AVIASURVEIL360  •  SWOB  •  20 JUL 2026</a:t>
            </a:r>
          </a:p>
        </p:txBody>
      </p:sp>
      <p:sp>
        <p:nvSpPr>
          <p:cNvPr id="10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3CC0020B-0EE3-40B9-BB5A-3877F5E4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53175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221050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335A706D-7777-4C0D-A4CF-7498E9E6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One traceable flow carries every finding to a verified outcome</a:t>
            </a:r>
          </a:p>
        </p:txBody>
      </p:sp>
      <p:sp>
        <p:nvSpPr>
          <p:cNvPr id="2" name="flow-intro">
            <a:extLst xmlns:a="http://schemas.openxmlformats.org/drawingml/2006/main">
              <a:ext uri="{FF2B5EF4-FFF2-40B4-BE49-F238E27FC236}">
                <a16:creationId xmlns:a16="http://schemas.microsoft.com/office/drawing/2014/main" id="{705B5480-1F67-4DEA-8198-D20290C2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857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41506A"/>
                </a:solidFill>
                <a:latin typeface="Helvetica Neue"/>
                <a:ea typeface="Helvetica Neue"/>
                <a:cs typeface="Helvetica Neue"/>
              </a:defRPr>
            </a:pPr>
            <a:r>
              <a:t>The workflow keeps ownership and evidence visible from the first plan to the final decision.</a:t>
            </a:r>
          </a:p>
        </p:txBody>
      </p:sp>
      <p:cxnSp>
        <p:nvCxnSpPr>
          <p:cNvPr id="56" name="flow-connector-1"/>
          <p:cNvCxnSpPr/>
          <p:nvPr/>
        </p:nvCxnSpPr>
        <p:spPr>
          <a:xfrm xmlns:a="http://schemas.openxmlformats.org/drawingml/2006/main">
            <a:off x="1657350" y="3086100"/>
            <a:ext cx="2476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2A4D"/>
            </a:solidFill>
            <a:prstDash val="solid"/>
          </a:ln>
        </p:spPr>
      </p:cxnSp>
      <p:sp>
        <p:nvSpPr>
          <p:cNvPr id="4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F9A232D9-E4D5-49BC-94CE-2A3E425D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1143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2A4D"/>
          </a:solidFill>
          <a:ln xmlns:a="http://schemas.openxmlformats.org/drawingml/2006/main" w="0">
            <a:solidFill>
              <a:srgbClr val="122A4D"/>
            </a:solidFill>
            <a:prstDash val="solid"/>
          </a:ln>
        </p:spPr>
      </p:sp>
      <p:cxnSp>
        <p:nvCxnSpPr>
          <p:cNvPr id="58" name="flow-connector-2"/>
          <p:cNvCxnSpPr/>
          <p:nvPr/>
        </p:nvCxnSpPr>
        <p:spPr>
          <a:xfrm xmlns:a="http://schemas.openxmlformats.org/drawingml/2006/main">
            <a:off x="3105150" y="3086100"/>
            <a:ext cx="2476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2A4D"/>
            </a:solidFill>
            <a:prstDash val="solid"/>
          </a:ln>
        </p:spPr>
      </p:cxnSp>
      <p:sp>
        <p:nvSpPr>
          <p:cNvPr id="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6D750DB2-4980-4C35-9587-77C0F042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28950"/>
            <a:ext cx="1143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2A4D"/>
          </a:solidFill>
          <a:ln xmlns:a="http://schemas.openxmlformats.org/drawingml/2006/main" w="0">
            <a:solidFill>
              <a:srgbClr val="122A4D"/>
            </a:solidFill>
            <a:prstDash val="solid"/>
          </a:ln>
        </p:spPr>
      </p:sp>
      <p:cxnSp>
        <p:nvCxnSpPr>
          <p:cNvPr id="60" name="flow-connector-3"/>
          <p:cNvCxnSpPr/>
          <p:nvPr/>
        </p:nvCxnSpPr>
        <p:spPr>
          <a:xfrm xmlns:a="http://schemas.openxmlformats.org/drawingml/2006/main">
            <a:off x="4552950" y="3086100"/>
            <a:ext cx="2476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2A4D"/>
            </a:solidFill>
            <a:prstDash val="solid"/>
          </a:ln>
        </p:spPr>
      </p:cxnSp>
      <p:sp>
        <p:nvSpPr>
          <p:cNvPr id="8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1164B074-C1B0-48A4-BD05-90F913C7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28950"/>
            <a:ext cx="1143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2A4D"/>
          </a:solidFill>
          <a:ln xmlns:a="http://schemas.openxmlformats.org/drawingml/2006/main" w="0">
            <a:solidFill>
              <a:srgbClr val="122A4D"/>
            </a:solidFill>
            <a:prstDash val="solid"/>
          </a:ln>
        </p:spPr>
      </p:sp>
      <p:cxnSp>
        <p:nvCxnSpPr>
          <p:cNvPr id="62" name="flow-connector-4"/>
          <p:cNvCxnSpPr/>
          <p:nvPr/>
        </p:nvCxnSpPr>
        <p:spPr>
          <a:xfrm xmlns:a="http://schemas.openxmlformats.org/drawingml/2006/main">
            <a:off x="6000750" y="3086100"/>
            <a:ext cx="2476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2A4D"/>
            </a:solidFill>
            <a:prstDash val="solid"/>
          </a:ln>
        </p:spPr>
      </p:cxn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51D3734E-5BF3-4605-8426-014E2A04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1143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2A4D"/>
          </a:solidFill>
          <a:ln xmlns:a="http://schemas.openxmlformats.org/drawingml/2006/main" w="0">
            <a:solidFill>
              <a:srgbClr val="122A4D"/>
            </a:solidFill>
            <a:prstDash val="solid"/>
          </a:ln>
        </p:spPr>
      </p:sp>
      <p:cxnSp>
        <p:nvCxnSpPr>
          <p:cNvPr id="64" name="flow-connector-5"/>
          <p:cNvCxnSpPr/>
          <p:nvPr/>
        </p:nvCxnSpPr>
        <p:spPr>
          <a:xfrm xmlns:a="http://schemas.openxmlformats.org/drawingml/2006/main">
            <a:off x="7448550" y="3086100"/>
            <a:ext cx="2476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2A4D"/>
            </a:solidFill>
            <a:prstDash val="solid"/>
          </a:ln>
        </p:spPr>
      </p:cxnSp>
      <p:sp>
        <p:nvSpPr>
          <p:cNvPr id="12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9D7ADECB-A80C-45CE-B3C4-655EC6F1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28950"/>
            <a:ext cx="1143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2A4D"/>
          </a:solidFill>
          <a:ln xmlns:a="http://schemas.openxmlformats.org/drawingml/2006/main" w="0">
            <a:solidFill>
              <a:srgbClr val="122A4D"/>
            </a:solidFill>
            <a:prstDash val="solid"/>
          </a:ln>
        </p:spPr>
      </p:sp>
      <p:cxnSp>
        <p:nvCxnSpPr>
          <p:cNvPr id="66" name="flow-connector-6"/>
          <p:cNvCxnSpPr/>
          <p:nvPr/>
        </p:nvCxnSpPr>
        <p:spPr>
          <a:xfrm xmlns:a="http://schemas.openxmlformats.org/drawingml/2006/main">
            <a:off x="8896350" y="3086100"/>
            <a:ext cx="2476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2A4D"/>
            </a:solidFill>
            <a:prstDash val="solid"/>
          </a:ln>
        </p:spPr>
      </p:cxnSp>
      <p:sp>
        <p:nvSpPr>
          <p:cNvPr id="14" name="flow-arrow-6">
            <a:extLst xmlns:a="http://schemas.openxmlformats.org/drawingml/2006/main">
              <a:ext uri="{FF2B5EF4-FFF2-40B4-BE49-F238E27FC236}">
                <a16:creationId xmlns:a16="http://schemas.microsoft.com/office/drawing/2014/main" id="{18AD469A-9C87-45A4-809E-5D025115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28950"/>
            <a:ext cx="1143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2A4D"/>
          </a:solidFill>
          <a:ln xmlns:a="http://schemas.openxmlformats.org/drawingml/2006/main" w="0">
            <a:solidFill>
              <a:srgbClr val="122A4D"/>
            </a:solidFill>
            <a:prstDash val="solid"/>
          </a:ln>
        </p:spPr>
      </p:sp>
      <p:cxnSp>
        <p:nvCxnSpPr>
          <p:cNvPr id="68" name="flow-connector-7"/>
          <p:cNvCxnSpPr/>
          <p:nvPr/>
        </p:nvCxnSpPr>
        <p:spPr>
          <a:xfrm xmlns:a="http://schemas.openxmlformats.org/drawingml/2006/main">
            <a:off x="10344150" y="3086100"/>
            <a:ext cx="2476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2A4D"/>
            </a:solidFill>
            <a:prstDash val="solid"/>
          </a:ln>
        </p:spPr>
      </p:cxnSp>
      <p:sp>
        <p:nvSpPr>
          <p:cNvPr id="16" name="flow-arrow-7">
            <a:extLst xmlns:a="http://schemas.openxmlformats.org/drawingml/2006/main">
              <a:ext uri="{FF2B5EF4-FFF2-40B4-BE49-F238E27FC236}">
                <a16:creationId xmlns:a16="http://schemas.microsoft.com/office/drawing/2014/main" id="{CE76EC05-ACE8-4BF2-A006-437B2834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028950"/>
            <a:ext cx="1143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2A4D"/>
          </a:solidFill>
          <a:ln xmlns:a="http://schemas.openxmlformats.org/drawingml/2006/main" w="0">
            <a:solidFill>
              <a:srgbClr val="122A4D"/>
            </a:solidFill>
            <a:prstDash val="solid"/>
          </a:ln>
        </p:spPr>
      </p:sp>
      <p:sp>
        <p:nvSpPr>
          <p:cNvPr id="17" name="flow-node-1">
            <a:extLst xmlns:a="http://schemas.openxmlformats.org/drawingml/2006/main">
              <a:ext uri="{FF2B5EF4-FFF2-40B4-BE49-F238E27FC236}">
                <a16:creationId xmlns:a16="http://schemas.microsoft.com/office/drawing/2014/main" id="{2A7FA0F9-C9F9-4FD1-A817-B271600F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200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4F86E0"/>
            </a:solidFill>
            <a:prstDash val="solid"/>
          </a:ln>
        </p:spPr>
      </p:sp>
      <p:sp>
        <p:nvSpPr>
          <p:cNvPr id="18" name="flow-step-1">
            <a:extLst xmlns:a="http://schemas.openxmlformats.org/drawingml/2006/main">
              <a:ext uri="{FF2B5EF4-FFF2-40B4-BE49-F238E27FC236}">
                <a16:creationId xmlns:a16="http://schemas.microsoft.com/office/drawing/2014/main" id="{603F6F07-5E07-494B-B396-35695C1B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86E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19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0886DA81-5422-4B83-A5AB-4BBF539F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93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Plan</a:t>
            </a:r>
          </a:p>
        </p:txBody>
      </p:sp>
      <p:sp>
        <p:nvSpPr>
          <p:cNvPr id="20" name="flow-owner-1">
            <a:extLst xmlns:a="http://schemas.openxmlformats.org/drawingml/2006/main">
              <a:ext uri="{FF2B5EF4-FFF2-40B4-BE49-F238E27FC236}">
                <a16:creationId xmlns:a16="http://schemas.microsoft.com/office/drawing/2014/main" id="{07DC6AF5-5050-4A82-BF2C-822F4532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24225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B7891"/>
                </a:solidFill>
                <a:latin typeface="Helvetica Neue"/>
                <a:ea typeface="Helvetica Neue"/>
                <a:cs typeface="Helvetica Neue"/>
              </a:defRPr>
            </a:pPr>
            <a:r>
              <a:t>Manager</a:t>
            </a:r>
          </a:p>
        </p:txBody>
      </p:sp>
      <p:sp>
        <p:nvSpPr>
          <p:cNvPr id="21" name="flow-node-2">
            <a:extLst xmlns:a="http://schemas.openxmlformats.org/drawingml/2006/main">
              <a:ext uri="{FF2B5EF4-FFF2-40B4-BE49-F238E27FC236}">
                <a16:creationId xmlns:a16="http://schemas.microsoft.com/office/drawing/2014/main" id="{44931F59-3F51-4FB8-A023-963F0A72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33650"/>
            <a:ext cx="1200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4F86E0"/>
            </a:solidFill>
            <a:prstDash val="solid"/>
          </a:ln>
        </p:spPr>
      </p:sp>
      <p:sp>
        <p:nvSpPr>
          <p:cNvPr id="22" name="flow-step-2">
            <a:extLst xmlns:a="http://schemas.openxmlformats.org/drawingml/2006/main">
              <a:ext uri="{FF2B5EF4-FFF2-40B4-BE49-F238E27FC236}">
                <a16:creationId xmlns:a16="http://schemas.microsoft.com/office/drawing/2014/main" id="{D6FDC92B-9BAA-4E90-AF32-1BBF840E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57475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86E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3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0555131E-3F58-4332-8527-EE294272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62275"/>
            <a:ext cx="93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Schedule</a:t>
            </a:r>
          </a:p>
        </p:txBody>
      </p:sp>
      <p:sp>
        <p:nvSpPr>
          <p:cNvPr id="24" name="flow-owner-2">
            <a:extLst xmlns:a="http://schemas.openxmlformats.org/drawingml/2006/main">
              <a:ext uri="{FF2B5EF4-FFF2-40B4-BE49-F238E27FC236}">
                <a16:creationId xmlns:a16="http://schemas.microsoft.com/office/drawing/2014/main" id="{64E0DAC2-B075-463A-B629-E85A7B0D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24225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B7891"/>
                </a:solidFill>
                <a:latin typeface="Helvetica Neue"/>
                <a:ea typeface="Helvetica Neue"/>
                <a:cs typeface="Helvetica Neue"/>
              </a:defRPr>
            </a:pPr>
            <a:r>
              <a:t>CAA</a:t>
            </a:r>
          </a:p>
        </p:txBody>
      </p:sp>
      <p:sp>
        <p:nvSpPr>
          <p:cNvPr id="25" name="flow-node-3">
            <a:extLst xmlns:a="http://schemas.openxmlformats.org/drawingml/2006/main">
              <a:ext uri="{FF2B5EF4-FFF2-40B4-BE49-F238E27FC236}">
                <a16:creationId xmlns:a16="http://schemas.microsoft.com/office/drawing/2014/main" id="{B7CFB8D7-E2F1-4432-B900-31B10088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33650"/>
            <a:ext cx="1200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4F86E0"/>
            </a:solidFill>
            <a:prstDash val="solid"/>
          </a:ln>
        </p:spPr>
      </p:sp>
      <p:sp>
        <p:nvSpPr>
          <p:cNvPr id="26" name="flow-step-3">
            <a:extLst xmlns:a="http://schemas.openxmlformats.org/drawingml/2006/main">
              <a:ext uri="{FF2B5EF4-FFF2-40B4-BE49-F238E27FC236}">
                <a16:creationId xmlns:a16="http://schemas.microsoft.com/office/drawing/2014/main" id="{E14F9199-CAC7-4341-9978-C7D1CD6E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57475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86E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7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7A9CEC5B-B55B-41E5-8C74-AB0F3A51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62275"/>
            <a:ext cx="93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Inspect</a:t>
            </a:r>
          </a:p>
        </p:txBody>
      </p:sp>
      <p:sp>
        <p:nvSpPr>
          <p:cNvPr id="28" name="flow-owner-3">
            <a:extLst xmlns:a="http://schemas.openxmlformats.org/drawingml/2006/main">
              <a:ext uri="{FF2B5EF4-FFF2-40B4-BE49-F238E27FC236}">
                <a16:creationId xmlns:a16="http://schemas.microsoft.com/office/drawing/2014/main" id="{59B01692-4017-4D90-92FA-81A483BF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24225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B7891"/>
                </a:solidFill>
                <a:latin typeface="Helvetica Neue"/>
                <a:ea typeface="Helvetica Neue"/>
                <a:cs typeface="Helvetica Neue"/>
              </a:defRPr>
            </a:pPr>
            <a:r>
              <a:t>Inspector</a:t>
            </a:r>
          </a:p>
        </p:txBody>
      </p:sp>
      <p:sp>
        <p:nvSpPr>
          <p:cNvPr id="29" name="flow-node-4">
            <a:extLst xmlns:a="http://schemas.openxmlformats.org/drawingml/2006/main">
              <a:ext uri="{FF2B5EF4-FFF2-40B4-BE49-F238E27FC236}">
                <a16:creationId xmlns:a16="http://schemas.microsoft.com/office/drawing/2014/main" id="{D2577ECB-C25E-4012-B2FA-0C450282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33650"/>
            <a:ext cx="1200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4F86E0"/>
            </a:solidFill>
            <a:prstDash val="solid"/>
          </a:ln>
        </p:spPr>
      </p:sp>
      <p:sp>
        <p:nvSpPr>
          <p:cNvPr id="30" name="flow-step-4">
            <a:extLst xmlns:a="http://schemas.openxmlformats.org/drawingml/2006/main">
              <a:ext uri="{FF2B5EF4-FFF2-40B4-BE49-F238E27FC236}">
                <a16:creationId xmlns:a16="http://schemas.microsoft.com/office/drawing/2014/main" id="{7CE4E9F5-DBFC-4EFA-B6AB-88A0E188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57475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86E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31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65159576-C0FE-46C8-979D-62F9CEC3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62275"/>
            <a:ext cx="93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Finding</a:t>
            </a:r>
          </a:p>
        </p:txBody>
      </p:sp>
      <p:sp>
        <p:nvSpPr>
          <p:cNvPr id="32" name="flow-owner-4">
            <a:extLst xmlns:a="http://schemas.openxmlformats.org/drawingml/2006/main">
              <a:ext uri="{FF2B5EF4-FFF2-40B4-BE49-F238E27FC236}">
                <a16:creationId xmlns:a16="http://schemas.microsoft.com/office/drawing/2014/main" id="{767332C6-40EE-4B31-B236-9466B35D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24225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B7891"/>
                </a:solidFill>
                <a:latin typeface="Helvetica Neue"/>
                <a:ea typeface="Helvetica Neue"/>
                <a:cs typeface="Helvetica Neue"/>
              </a:defRPr>
            </a:pPr>
            <a:r>
              <a:t>Inspector</a:t>
            </a:r>
          </a:p>
        </p:txBody>
      </p:sp>
      <p:sp>
        <p:nvSpPr>
          <p:cNvPr id="33" name="flow-node-5">
            <a:extLst xmlns:a="http://schemas.openxmlformats.org/drawingml/2006/main">
              <a:ext uri="{FF2B5EF4-FFF2-40B4-BE49-F238E27FC236}">
                <a16:creationId xmlns:a16="http://schemas.microsoft.com/office/drawing/2014/main" id="{6EB337E4-73EF-455D-A4CD-56564240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1200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DF2DD"/>
          </a:solidFill>
          <a:ln xmlns:a="http://schemas.openxmlformats.org/drawingml/2006/main" w="14288">
            <a:solidFill>
              <a:srgbClr val="C77700"/>
            </a:solidFill>
            <a:prstDash val="solid"/>
          </a:ln>
        </p:spPr>
      </p:sp>
      <p:sp>
        <p:nvSpPr>
          <p:cNvPr id="34" name="flow-step-5">
            <a:extLst xmlns:a="http://schemas.openxmlformats.org/drawingml/2006/main">
              <a:ext uri="{FF2B5EF4-FFF2-40B4-BE49-F238E27FC236}">
                <a16:creationId xmlns:a16="http://schemas.microsoft.com/office/drawing/2014/main" id="{71D2E0FE-2D5D-4BD9-9E2D-B81A4E39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57475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77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35" name="flow-label-5">
            <a:extLst xmlns:a="http://schemas.openxmlformats.org/drawingml/2006/main">
              <a:ext uri="{FF2B5EF4-FFF2-40B4-BE49-F238E27FC236}">
                <a16:creationId xmlns:a16="http://schemas.microsoft.com/office/drawing/2014/main" id="{5E75C2B8-31DB-4FE8-B9BC-FC33734E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62275"/>
            <a:ext cx="93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CAP</a:t>
            </a:r>
          </a:p>
        </p:txBody>
      </p:sp>
      <p:sp>
        <p:nvSpPr>
          <p:cNvPr id="36" name="flow-owner-5">
            <a:extLst xmlns:a="http://schemas.openxmlformats.org/drawingml/2006/main">
              <a:ext uri="{FF2B5EF4-FFF2-40B4-BE49-F238E27FC236}">
                <a16:creationId xmlns:a16="http://schemas.microsoft.com/office/drawing/2014/main" id="{E467C0BD-B123-4862-B708-A33FEEE9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24225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B7891"/>
                </a:solidFill>
                <a:latin typeface="Helvetica Neue"/>
                <a:ea typeface="Helvetica Neue"/>
                <a:cs typeface="Helvetica Neue"/>
              </a:defRPr>
            </a:pPr>
            <a:r>
              <a:t>Auditee</a:t>
            </a:r>
          </a:p>
        </p:txBody>
      </p:sp>
      <p:sp>
        <p:nvSpPr>
          <p:cNvPr id="37" name="flow-node-6">
            <a:extLst xmlns:a="http://schemas.openxmlformats.org/drawingml/2006/main">
              <a:ext uri="{FF2B5EF4-FFF2-40B4-BE49-F238E27FC236}">
                <a16:creationId xmlns:a16="http://schemas.microsoft.com/office/drawing/2014/main" id="{E5134467-E4BD-4649-A2BA-71B30317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33650"/>
            <a:ext cx="1200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DF2DD"/>
          </a:solidFill>
          <a:ln xmlns:a="http://schemas.openxmlformats.org/drawingml/2006/main" w="14288">
            <a:solidFill>
              <a:srgbClr val="C77700"/>
            </a:solidFill>
            <a:prstDash val="solid"/>
          </a:ln>
        </p:spPr>
      </p:sp>
      <p:sp>
        <p:nvSpPr>
          <p:cNvPr id="38" name="flow-step-6">
            <a:extLst xmlns:a="http://schemas.openxmlformats.org/drawingml/2006/main">
              <a:ext uri="{FF2B5EF4-FFF2-40B4-BE49-F238E27FC236}">
                <a16:creationId xmlns:a16="http://schemas.microsoft.com/office/drawing/2014/main" id="{7F077791-8BE1-4E88-A98C-DFF06CDE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57475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77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39" name="flow-label-6">
            <a:extLst xmlns:a="http://schemas.openxmlformats.org/drawingml/2006/main">
              <a:ext uri="{FF2B5EF4-FFF2-40B4-BE49-F238E27FC236}">
                <a16:creationId xmlns:a16="http://schemas.microsoft.com/office/drawing/2014/main" id="{9C3DFFFA-D0DC-4A49-81AE-C2FDF44E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62275"/>
            <a:ext cx="93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40" name="flow-owner-6">
            <a:extLst xmlns:a="http://schemas.openxmlformats.org/drawingml/2006/main">
              <a:ext uri="{FF2B5EF4-FFF2-40B4-BE49-F238E27FC236}">
                <a16:creationId xmlns:a16="http://schemas.microsoft.com/office/drawing/2014/main" id="{011D7CF3-68CD-40D4-829E-EF367AE6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24225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B7891"/>
                </a:solidFill>
                <a:latin typeface="Helvetica Neue"/>
                <a:ea typeface="Helvetica Neue"/>
                <a:cs typeface="Helvetica Neue"/>
              </a:defRPr>
            </a:pPr>
            <a:r>
              <a:t>Auditee</a:t>
            </a:r>
          </a:p>
        </p:txBody>
      </p:sp>
      <p:sp>
        <p:nvSpPr>
          <p:cNvPr id="41" name="flow-node-7">
            <a:extLst xmlns:a="http://schemas.openxmlformats.org/drawingml/2006/main">
              <a:ext uri="{FF2B5EF4-FFF2-40B4-BE49-F238E27FC236}">
                <a16:creationId xmlns:a16="http://schemas.microsoft.com/office/drawing/2014/main" id="{732E119B-CA78-4578-8F0C-1A5C8B86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33650"/>
            <a:ext cx="1200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4F86E0"/>
            </a:solidFill>
            <a:prstDash val="solid"/>
          </a:ln>
        </p:spPr>
      </p:sp>
      <p:sp>
        <p:nvSpPr>
          <p:cNvPr id="42" name="flow-step-7">
            <a:extLst xmlns:a="http://schemas.openxmlformats.org/drawingml/2006/main">
              <a:ext uri="{FF2B5EF4-FFF2-40B4-BE49-F238E27FC236}">
                <a16:creationId xmlns:a16="http://schemas.microsoft.com/office/drawing/2014/main" id="{05E2FB6C-2CB9-4679-8514-0405AEAE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57475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86E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43" name="flow-label-7">
            <a:extLst xmlns:a="http://schemas.openxmlformats.org/drawingml/2006/main">
              <a:ext uri="{FF2B5EF4-FFF2-40B4-BE49-F238E27FC236}">
                <a16:creationId xmlns:a16="http://schemas.microsoft.com/office/drawing/2014/main" id="{997E868A-40F6-493B-AB6A-03EF360F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62275"/>
            <a:ext cx="93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CAA Review</a:t>
            </a:r>
          </a:p>
        </p:txBody>
      </p:sp>
      <p:sp>
        <p:nvSpPr>
          <p:cNvPr id="44" name="flow-owner-7">
            <a:extLst xmlns:a="http://schemas.openxmlformats.org/drawingml/2006/main">
              <a:ext uri="{FF2B5EF4-FFF2-40B4-BE49-F238E27FC236}">
                <a16:creationId xmlns:a16="http://schemas.microsoft.com/office/drawing/2014/main" id="{A6C75EBC-5138-48E0-AE52-74988FE8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24225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B7891"/>
                </a:solidFill>
                <a:latin typeface="Helvetica Neue"/>
                <a:ea typeface="Helvetica Neue"/>
                <a:cs typeface="Helvetica Neue"/>
              </a:defRPr>
            </a:pPr>
            <a:r>
              <a:t>Inspector</a:t>
            </a:r>
          </a:p>
        </p:txBody>
      </p:sp>
      <p:sp>
        <p:nvSpPr>
          <p:cNvPr id="45" name="flow-node-8">
            <a:extLst xmlns:a="http://schemas.openxmlformats.org/drawingml/2006/main">
              <a:ext uri="{FF2B5EF4-FFF2-40B4-BE49-F238E27FC236}">
                <a16:creationId xmlns:a16="http://schemas.microsoft.com/office/drawing/2014/main" id="{D370A469-9983-4D27-BFF0-CD4B7211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533650"/>
            <a:ext cx="1200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6F6EE"/>
          </a:solidFill>
          <a:ln xmlns:a="http://schemas.openxmlformats.org/drawingml/2006/main" w="14288">
            <a:solidFill>
              <a:srgbClr val="1F9D62"/>
            </a:solidFill>
            <a:prstDash val="solid"/>
          </a:ln>
        </p:spPr>
      </p:sp>
      <p:sp>
        <p:nvSpPr>
          <p:cNvPr id="46" name="flow-step-8">
            <a:extLst xmlns:a="http://schemas.openxmlformats.org/drawingml/2006/main">
              <a:ext uri="{FF2B5EF4-FFF2-40B4-BE49-F238E27FC236}">
                <a16:creationId xmlns:a16="http://schemas.microsoft.com/office/drawing/2014/main" id="{F6C74F55-0DA2-493C-AFEF-47D13DED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657475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9D62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47" name="flow-label-8">
            <a:extLst xmlns:a="http://schemas.openxmlformats.org/drawingml/2006/main">
              <a:ext uri="{FF2B5EF4-FFF2-40B4-BE49-F238E27FC236}">
                <a16:creationId xmlns:a16="http://schemas.microsoft.com/office/drawing/2014/main" id="{62CC8ADE-F6B0-4064-9CEA-A848B491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962275"/>
            <a:ext cx="93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Closure</a:t>
            </a:r>
          </a:p>
        </p:txBody>
      </p:sp>
      <p:sp>
        <p:nvSpPr>
          <p:cNvPr id="48" name="flow-owner-8">
            <a:extLst xmlns:a="http://schemas.openxmlformats.org/drawingml/2006/main">
              <a:ext uri="{FF2B5EF4-FFF2-40B4-BE49-F238E27FC236}">
                <a16:creationId xmlns:a16="http://schemas.microsoft.com/office/drawing/2014/main" id="{E4C08D6F-1763-4415-8BDA-7CFB5120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324225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B7891"/>
                </a:solidFill>
                <a:latin typeface="Helvetica Neue"/>
                <a:ea typeface="Helvetica Neue"/>
                <a:cs typeface="Helvetica Neue"/>
              </a:defRPr>
            </a:pPr>
            <a:r>
              <a:t>Verified</a:t>
            </a:r>
          </a:p>
        </p:txBody>
      </p:sp>
      <p:sp>
        <p:nvSpPr>
          <p:cNvPr id="49" name="closure-rule-callout">
            <a:extLst xmlns:a="http://schemas.openxmlformats.org/drawingml/2006/main">
              <a:ext uri="{FF2B5EF4-FFF2-40B4-BE49-F238E27FC236}">
                <a16:creationId xmlns:a16="http://schemas.microsoft.com/office/drawing/2014/main" id="{590D6738-8490-4156-BC37-BEE51295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52950"/>
            <a:ext cx="7620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50" name="closure-rule-title">
            <a:extLst xmlns:a="http://schemas.openxmlformats.org/drawingml/2006/main">
              <a:ext uri="{FF2B5EF4-FFF2-40B4-BE49-F238E27FC236}">
                <a16:creationId xmlns:a16="http://schemas.microsoft.com/office/drawing/2014/main" id="{D02648FE-5EAC-4B06-ACAF-8EC4258B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733925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CAP accepted ≠ Finding closed</a:t>
            </a:r>
          </a:p>
        </p:txBody>
      </p:sp>
      <p:sp>
        <p:nvSpPr>
          <p:cNvPr id="51" name="closure-rule-body">
            <a:extLst xmlns:a="http://schemas.openxmlformats.org/drawingml/2006/main">
              <a:ext uri="{FF2B5EF4-FFF2-40B4-BE49-F238E27FC236}">
                <a16:creationId xmlns:a16="http://schemas.microsoft.com/office/drawing/2014/main" id="{3DA5CCA0-3929-40EF-A5D3-CC007134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86350"/>
            <a:ext cx="657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DCE8F8"/>
                </a:solidFill>
                <a:latin typeface="Helvetica Neue"/>
                <a:ea typeface="Helvetica Neue"/>
                <a:cs typeface="Helvetica Neue"/>
              </a:defRPr>
            </a:pPr>
            <a:r>
              <a:t>Closure follows verified Evidence or a separately authorized, reasoned path.</a:t>
            </a:r>
          </a:p>
        </p:txBody>
      </p:sp>
      <p:sp>
        <p:nvSpPr>
          <p:cNvPr id="52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963B2636-8695-41D0-96E5-61C773E1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B7891"/>
                </a:solidFill>
                <a:latin typeface="Helvetica Neue"/>
                <a:ea typeface="Helvetica Neue"/>
                <a:cs typeface="Helvetica Neue"/>
              </a:defRPr>
            </a:pPr>
            <a:r>
              <a:t>AVIASURVEIL360  •  SWOB  •  20 JUL 2026</a:t>
            </a:r>
          </a:p>
        </p:txBody>
      </p:sp>
      <p:sp>
        <p:nvSpPr>
          <p:cNvPr id="53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709A2F0E-740F-4CE9-821A-A09E5809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53175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02253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79EE2B5D-20B4-486C-B333-911EB7EF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Each role sees one clear next action</a:t>
            </a:r>
          </a:p>
        </p:txBody>
      </p:sp>
      <p:sp>
        <p:nvSpPr>
          <p:cNvPr id="2" name="role-intro">
            <a:extLst xmlns:a="http://schemas.openxmlformats.org/drawingml/2006/main">
              <a:ext uri="{FF2B5EF4-FFF2-40B4-BE49-F238E27FC236}">
                <a16:creationId xmlns:a16="http://schemas.microsoft.com/office/drawing/2014/main" id="{BE24394F-C76A-42DC-B0D4-41785E21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41506A"/>
                </a:solidFill>
                <a:latin typeface="Helvetica Neue"/>
                <a:ea typeface="Helvetica Neue"/>
                <a:cs typeface="Helvetica Neue"/>
              </a:defRPr>
            </a:pPr>
            <a:r>
              <a:t>AviaSurveil360 keeps normal users focused on the decision in front of them, while configuration stays behind the appropriate permissions.</a:t>
            </a:r>
          </a:p>
        </p:txBody>
      </p:sp>
      <p:sp>
        <p:nvSpPr>
          <p:cNvPr id="3" name="role-column-1">
            <a:extLst xmlns:a="http://schemas.openxmlformats.org/drawingml/2006/main">
              <a:ext uri="{FF2B5EF4-FFF2-40B4-BE49-F238E27FC236}">
                <a16:creationId xmlns:a16="http://schemas.microsoft.com/office/drawing/2014/main" id="{AED64755-A32E-41FF-906B-F7BFE531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35052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E0E9"/>
            </a:solidFill>
            <a:prstDash val="solid"/>
          </a:ln>
        </p:spPr>
      </p:sp>
      <p:sp>
        <p:nvSpPr>
          <p:cNvPr id="4" name="role-accent-1">
            <a:extLst xmlns:a="http://schemas.openxmlformats.org/drawingml/2006/main">
              <a:ext uri="{FF2B5EF4-FFF2-40B4-BE49-F238E27FC236}">
                <a16:creationId xmlns:a16="http://schemas.microsoft.com/office/drawing/2014/main" id="{6B080322-2DEA-4A79-BDB4-023315F2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ole-label-1">
            <a:extLst xmlns:a="http://schemas.openxmlformats.org/drawingml/2006/main">
              <a:ext uri="{FF2B5EF4-FFF2-40B4-BE49-F238E27FC236}">
                <a16:creationId xmlns:a16="http://schemas.microsoft.com/office/drawing/2014/main" id="{06728B31-CEC7-4CA4-B711-7BB6A6C4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71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D6"/>
                </a:solidFill>
                <a:latin typeface="Helvetica Neue"/>
                <a:ea typeface="Helvetica Neue"/>
                <a:cs typeface="Helvetica Neue"/>
              </a:defRPr>
            </a:pPr>
            <a:r>
              <a:t>CAA MANAGER</a:t>
            </a:r>
          </a:p>
        </p:txBody>
      </p:sp>
      <p:sp>
        <p:nvSpPr>
          <p:cNvPr id="6" name="role-question-1">
            <a:extLst xmlns:a="http://schemas.openxmlformats.org/drawingml/2006/main">
              <a:ext uri="{FF2B5EF4-FFF2-40B4-BE49-F238E27FC236}">
                <a16:creationId xmlns:a16="http://schemas.microsoft.com/office/drawing/2014/main" id="{0B60E223-4DC3-49A7-ADBD-25797923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29718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Where are we exposed, delayed, or overloaded?</a:t>
            </a:r>
          </a:p>
        </p:txBody>
      </p:sp>
      <p:sp>
        <p:nvSpPr>
          <p:cNvPr id="7" name="role-actions-1">
            <a:extLst xmlns:a="http://schemas.openxmlformats.org/drawingml/2006/main">
              <a:ext uri="{FF2B5EF4-FFF2-40B4-BE49-F238E27FC236}">
                <a16:creationId xmlns:a16="http://schemas.microsoft.com/office/drawing/2014/main" id="{D347BD00-C122-47A8-B898-CBC7CF53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29718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1506A"/>
                </a:solidFill>
                <a:latin typeface="Helvetica Neue"/>
                <a:ea typeface="Helvetica Neue"/>
                <a:cs typeface="Helvetica Neue"/>
              </a:defRPr>
            </a:pPr>
            <a:r>
              <a:t>Surveillance plan
Approval queues
Risk and overdue follow-up</a:t>
            </a:r>
          </a:p>
        </p:txBody>
      </p:sp>
      <p:sp>
        <p:nvSpPr>
          <p:cNvPr id="8" name="role-column-2">
            <a:extLst xmlns:a="http://schemas.openxmlformats.org/drawingml/2006/main">
              <a:ext uri="{FF2B5EF4-FFF2-40B4-BE49-F238E27FC236}">
                <a16:creationId xmlns:a16="http://schemas.microsoft.com/office/drawing/2014/main" id="{0E60437E-3FD9-4B60-931F-2489BB29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24100"/>
            <a:ext cx="35052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E0E9"/>
            </a:solidFill>
            <a:prstDash val="solid"/>
          </a:ln>
        </p:spPr>
      </p:sp>
      <p:sp>
        <p:nvSpPr>
          <p:cNvPr id="9" name="role-accent-2">
            <a:extLst xmlns:a="http://schemas.openxmlformats.org/drawingml/2006/main">
              <a:ext uri="{FF2B5EF4-FFF2-40B4-BE49-F238E27FC236}">
                <a16:creationId xmlns:a16="http://schemas.microsoft.com/office/drawing/2014/main" id="{CB794AF4-71CC-4566-BCD0-EF27C616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2410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le-label-2">
            <a:extLst xmlns:a="http://schemas.openxmlformats.org/drawingml/2006/main">
              <a:ext uri="{FF2B5EF4-FFF2-40B4-BE49-F238E27FC236}">
                <a16:creationId xmlns:a16="http://schemas.microsoft.com/office/drawing/2014/main" id="{69684073-EC95-4E34-B58C-7AF3B0E6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67000"/>
            <a:ext cx="2971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9D62"/>
                </a:solidFill>
                <a:latin typeface="Helvetica Neue"/>
                <a:ea typeface="Helvetica Neue"/>
                <a:cs typeface="Helvetica Neue"/>
              </a:defRPr>
            </a:pPr>
            <a:r>
              <a:t>CAA INSPECTOR</a:t>
            </a:r>
          </a:p>
        </p:txBody>
      </p:sp>
      <p:sp>
        <p:nvSpPr>
          <p:cNvPr id="11" name="role-question-2">
            <a:extLst xmlns:a="http://schemas.openxmlformats.org/drawingml/2006/main">
              <a:ext uri="{FF2B5EF4-FFF2-40B4-BE49-F238E27FC236}">
                <a16:creationId xmlns:a16="http://schemas.microsoft.com/office/drawing/2014/main" id="{C2572805-E413-4AF7-B54A-EA951D68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95625"/>
            <a:ext cx="29718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What must I inspect or review today?</a:t>
            </a:r>
          </a:p>
        </p:txBody>
      </p:sp>
      <p:sp>
        <p:nvSpPr>
          <p:cNvPr id="12" name="role-actions-2">
            <a:extLst xmlns:a="http://schemas.openxmlformats.org/drawingml/2006/main">
              <a:ext uri="{FF2B5EF4-FFF2-40B4-BE49-F238E27FC236}">
                <a16:creationId xmlns:a16="http://schemas.microsoft.com/office/drawing/2014/main" id="{0E93B907-F2CD-4A45-93C2-A3FD67C7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67200"/>
            <a:ext cx="29718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1506A"/>
                </a:solidFill>
                <a:latin typeface="Helvetica Neue"/>
                <a:ea typeface="Helvetica Neue"/>
                <a:cs typeface="Helvetica Neue"/>
              </a:defRPr>
            </a:pPr>
            <a:r>
              <a:t>Assigned inspections
Checklist and Finding
CAP and Evidence review</a:t>
            </a:r>
          </a:p>
        </p:txBody>
      </p:sp>
      <p:sp>
        <p:nvSpPr>
          <p:cNvPr id="13" name="role-column-3">
            <a:extLst xmlns:a="http://schemas.openxmlformats.org/drawingml/2006/main">
              <a:ext uri="{FF2B5EF4-FFF2-40B4-BE49-F238E27FC236}">
                <a16:creationId xmlns:a16="http://schemas.microsoft.com/office/drawing/2014/main" id="{239BA6A2-1B2B-4E60-8BEE-D3231AA7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5052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E0E9"/>
            </a:solidFill>
            <a:prstDash val="solid"/>
          </a:ln>
        </p:spPr>
      </p:sp>
      <p:sp>
        <p:nvSpPr>
          <p:cNvPr id="14" name="role-accent-3">
            <a:extLst xmlns:a="http://schemas.openxmlformats.org/drawingml/2006/main">
              <a:ext uri="{FF2B5EF4-FFF2-40B4-BE49-F238E27FC236}">
                <a16:creationId xmlns:a16="http://schemas.microsoft.com/office/drawing/2014/main" id="{9BAF0DBB-5871-41F9-82F3-11080002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le-label-3">
            <a:extLst xmlns:a="http://schemas.openxmlformats.org/drawingml/2006/main">
              <a:ext uri="{FF2B5EF4-FFF2-40B4-BE49-F238E27FC236}">
                <a16:creationId xmlns:a16="http://schemas.microsoft.com/office/drawing/2014/main" id="{2A8B213E-C5C5-452D-8362-2CE3114A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2971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7700"/>
                </a:solidFill>
                <a:latin typeface="Helvetica Neue"/>
                <a:ea typeface="Helvetica Neue"/>
                <a:cs typeface="Helvetica Neue"/>
              </a:defRPr>
            </a:pPr>
            <a:r>
              <a:t>SERVICE PROVIDER / AUDITEE</a:t>
            </a:r>
          </a:p>
        </p:txBody>
      </p:sp>
      <p:sp>
        <p:nvSpPr>
          <p:cNvPr id="16" name="role-question-3">
            <a:extLst xmlns:a="http://schemas.openxmlformats.org/drawingml/2006/main">
              <a:ext uri="{FF2B5EF4-FFF2-40B4-BE49-F238E27FC236}">
                <a16:creationId xmlns:a16="http://schemas.microsoft.com/office/drawing/2014/main" id="{B3C41E8E-2CE5-49F5-921B-D779C3EC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95625"/>
            <a:ext cx="29718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What does the CAA need from our organization?</a:t>
            </a:r>
          </a:p>
        </p:txBody>
      </p:sp>
      <p:sp>
        <p:nvSpPr>
          <p:cNvPr id="17" name="role-actions-3">
            <a:extLst xmlns:a="http://schemas.openxmlformats.org/drawingml/2006/main">
              <a:ext uri="{FF2B5EF4-FFF2-40B4-BE49-F238E27FC236}">
                <a16:creationId xmlns:a16="http://schemas.microsoft.com/office/drawing/2014/main" id="{A4374F1F-32A8-4BBA-90C3-0B9B857D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29718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1506A"/>
                </a:solidFill>
                <a:latin typeface="Helvetica Neue"/>
                <a:ea typeface="Helvetica Neue"/>
                <a:cs typeface="Helvetica Neue"/>
              </a:defRPr>
            </a:pPr>
            <a:r>
              <a:t>Finding and Due Date
CAP response
Evidence and closure status</a:t>
            </a:r>
          </a:p>
        </p:txBody>
      </p:sp>
      <p:sp>
        <p:nvSpPr>
          <p:cNvPr id="18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CEA179C4-229A-48C5-9230-DD0BD6E4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B7891"/>
                </a:solidFill>
                <a:latin typeface="Helvetica Neue"/>
                <a:ea typeface="Helvetica Neue"/>
                <a:cs typeface="Helvetica Neue"/>
              </a:defRPr>
            </a:pPr>
            <a:r>
              <a:t>AVIASURVEIL360  •  SWOB  •  20 JUL 2026</a:t>
            </a:r>
          </a:p>
        </p:txBody>
      </p:sp>
      <p:sp>
        <p:nvSpPr>
          <p:cNvPr id="19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8C92F22F-2680-446A-9858-EC65120C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53175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65473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1f06eb6424300"/>
          <a:srcRect xmlns:a="http://schemas.openxmlformats.org/drawingml/2006/main" l="474" t="0" r="4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14500"/>
            <a:ext cx="3505200" cy="245745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bd815cc604a79"/>
          <a:srcRect xmlns:a="http://schemas.openxmlformats.org/drawingml/2006/main" l="0" t="5208" r="0" b="52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1714500"/>
            <a:ext cx="3505200" cy="245745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c755bf2334530"/>
          <a:srcRect xmlns:a="http://schemas.openxmlformats.org/drawingml/2006/main" l="87" t="0" r="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1714500"/>
            <a:ext cx="3505200" cy="245745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4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886F0ABD-B485-4DB5-BFC4-95B0742F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The walkthrough follows one finding from assignment to closure</a:t>
            </a:r>
          </a:p>
        </p:txBody>
      </p:sp>
      <p:sp>
        <p:nvSpPr>
          <p:cNvPr id="5" name="demo-scenario-subtitle">
            <a:extLst xmlns:a="http://schemas.openxmlformats.org/drawingml/2006/main">
              <a:ext uri="{FF2B5EF4-FFF2-40B4-BE49-F238E27FC236}">
                <a16:creationId xmlns:a16="http://schemas.microsoft.com/office/drawing/2014/main" id="{D4B943F1-E681-4311-B8D8-5525A4E1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971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1506A"/>
                </a:solidFill>
                <a:latin typeface="Helvetica Neue"/>
                <a:ea typeface="Helvetica Neue"/>
                <a:cs typeface="Helvetica Neue"/>
              </a:defRPr>
            </a:pPr>
            <a:r>
              <a:t>Fly Namibia Cabin Inspection • configured PBE check • traceable finding follow-up</a:t>
            </a:r>
          </a:p>
        </p:txBody>
      </p:sp>
      <p:sp>
        <p:nvSpPr>
          <p:cNvPr id="6" name="demo-image-border-1">
            <a:extLst xmlns:a="http://schemas.openxmlformats.org/drawingml/2006/main">
              <a:ext uri="{FF2B5EF4-FFF2-40B4-BE49-F238E27FC236}">
                <a16:creationId xmlns:a16="http://schemas.microsoft.com/office/drawing/2014/main" id="{713D2821-11D1-4C32-ACF9-CB6021B2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3505200" cy="2457450"/>
          </a:xfrm>
          <a:prstGeom xmlns:a="http://schemas.openxmlformats.org/drawingml/2006/main" prst="roundRect">
            <a:avLst>
              <a:gd name="adj" fmla="val 310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0E9"/>
            </a:solidFill>
            <a:prstDash val="solid"/>
          </a:ln>
        </p:spPr>
      </p:sp>
      <p:sp>
        <p:nvSpPr>
          <p:cNvPr id="7" name="demo-step-1">
            <a:extLst xmlns:a="http://schemas.openxmlformats.org/drawingml/2006/main">
              <a:ext uri="{FF2B5EF4-FFF2-40B4-BE49-F238E27FC236}">
                <a16:creationId xmlns:a16="http://schemas.microsoft.com/office/drawing/2014/main" id="{598B4845-47B8-43E6-9C9C-1AE32FA9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D6"/>
                </a:solidFill>
                <a:latin typeface="Helvetica Neue"/>
                <a:ea typeface="Helvetica Neue"/>
                <a:cs typeface="Helvetica Neue"/>
              </a:defRPr>
            </a:pPr>
            <a:r>
              <a:t>01  INSPECT</a:t>
            </a:r>
          </a:p>
        </p:txBody>
      </p:sp>
      <p:sp>
        <p:nvSpPr>
          <p:cNvPr id="8" name="demo-title-1">
            <a:extLst xmlns:a="http://schemas.openxmlformats.org/drawingml/2006/main">
              <a:ext uri="{FF2B5EF4-FFF2-40B4-BE49-F238E27FC236}">
                <a16:creationId xmlns:a16="http://schemas.microsoft.com/office/drawing/2014/main" id="{D4624AD3-2913-43B3-94C8-EDF6D41A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35052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Open today's assigned inspection</a:t>
            </a:r>
          </a:p>
        </p:txBody>
      </p:sp>
      <p:sp>
        <p:nvSpPr>
          <p:cNvPr id="9" name="demo-image-border-2">
            <a:extLst xmlns:a="http://schemas.openxmlformats.org/drawingml/2006/main">
              <a:ext uri="{FF2B5EF4-FFF2-40B4-BE49-F238E27FC236}">
                <a16:creationId xmlns:a16="http://schemas.microsoft.com/office/drawing/2014/main" id="{6F0E477E-0096-41EE-9A28-57503FD0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505200" cy="2457450"/>
          </a:xfrm>
          <a:prstGeom xmlns:a="http://schemas.openxmlformats.org/drawingml/2006/main" prst="roundRect">
            <a:avLst>
              <a:gd name="adj" fmla="val 310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0E9"/>
            </a:solidFill>
            <a:prstDash val="solid"/>
          </a:ln>
        </p:spPr>
      </p:sp>
      <p:sp>
        <p:nvSpPr>
          <p:cNvPr id="10" name="demo-step-2">
            <a:extLst xmlns:a="http://schemas.openxmlformats.org/drawingml/2006/main">
              <a:ext uri="{FF2B5EF4-FFF2-40B4-BE49-F238E27FC236}">
                <a16:creationId xmlns:a16="http://schemas.microsoft.com/office/drawing/2014/main" id="{77E2FAE5-07D4-4A8D-B9D9-80ED436B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5770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7700"/>
                </a:solidFill>
                <a:latin typeface="Helvetica Neue"/>
                <a:ea typeface="Helvetica Neue"/>
                <a:cs typeface="Helvetica Neue"/>
              </a:defRPr>
            </a:pPr>
            <a:r>
              <a:t>02  RESPOND</a:t>
            </a:r>
          </a:p>
        </p:txBody>
      </p:sp>
      <p:sp>
        <p:nvSpPr>
          <p:cNvPr id="11" name="demo-title-2">
            <a:extLst xmlns:a="http://schemas.openxmlformats.org/drawingml/2006/main">
              <a:ext uri="{FF2B5EF4-FFF2-40B4-BE49-F238E27FC236}">
                <a16:creationId xmlns:a16="http://schemas.microsoft.com/office/drawing/2014/main" id="{ADCA4FA3-BA0D-40DE-BE98-A34EA73D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19650"/>
            <a:ext cx="35052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Submit CAP and Evidence</a:t>
            </a:r>
          </a:p>
        </p:txBody>
      </p:sp>
      <p:sp>
        <p:nvSpPr>
          <p:cNvPr id="12" name="demo-image-border-3">
            <a:extLst xmlns:a="http://schemas.openxmlformats.org/drawingml/2006/main">
              <a:ext uri="{FF2B5EF4-FFF2-40B4-BE49-F238E27FC236}">
                <a16:creationId xmlns:a16="http://schemas.microsoft.com/office/drawing/2014/main" id="{50CC961D-3F94-447C-A13E-96D29391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505200" cy="2457450"/>
          </a:xfrm>
          <a:prstGeom xmlns:a="http://schemas.openxmlformats.org/drawingml/2006/main" prst="roundRect">
            <a:avLst>
              <a:gd name="adj" fmla="val 310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0E9"/>
            </a:solidFill>
            <a:prstDash val="solid"/>
          </a:ln>
        </p:spPr>
      </p:sp>
      <p:sp>
        <p:nvSpPr>
          <p:cNvPr id="13" name="demo-step-3">
            <a:extLst xmlns:a="http://schemas.openxmlformats.org/drawingml/2006/main">
              <a:ext uri="{FF2B5EF4-FFF2-40B4-BE49-F238E27FC236}">
                <a16:creationId xmlns:a16="http://schemas.microsoft.com/office/drawing/2014/main" id="{C38ACF0C-2426-49AA-B5CA-C96A7618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5770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9D62"/>
                </a:solidFill>
                <a:latin typeface="Helvetica Neue"/>
                <a:ea typeface="Helvetica Neue"/>
                <a:cs typeface="Helvetica Neue"/>
              </a:defRPr>
            </a:pPr>
            <a:r>
              <a:t>03  VERIFY</a:t>
            </a:r>
          </a:p>
        </p:txBody>
      </p:sp>
      <p:sp>
        <p:nvSpPr>
          <p:cNvPr id="14" name="demo-title-3">
            <a:extLst xmlns:a="http://schemas.openxmlformats.org/drawingml/2006/main">
              <a:ext uri="{FF2B5EF4-FFF2-40B4-BE49-F238E27FC236}">
                <a16:creationId xmlns:a16="http://schemas.microsoft.com/office/drawing/2014/main" id="{A86A26D3-FB98-4915-B1CC-C5E26B4C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9650"/>
            <a:ext cx="35052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Close only after Evidence acceptance</a:t>
            </a:r>
          </a:p>
        </p:txBody>
      </p:sp>
      <p:sp>
        <p:nvSpPr>
          <p:cNvPr id="15" name="demo-outcome">
            <a:extLst xmlns:a="http://schemas.openxmlformats.org/drawingml/2006/main">
              <a:ext uri="{FF2B5EF4-FFF2-40B4-BE49-F238E27FC236}">
                <a16:creationId xmlns:a16="http://schemas.microsoft.com/office/drawing/2014/main" id="{52F56F08-23EC-4C7D-9E9A-4DEA0BF4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9448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41506A"/>
                </a:solidFill>
                <a:latin typeface="Helvetica Neue"/>
                <a:ea typeface="Helvetica Neue"/>
                <a:cs typeface="Helvetica Neue"/>
              </a:defRPr>
            </a:pPr>
            <a:r>
              <a:t>Every stage keeps the Organization, related Audit, severity, owner, next action, status and Due Date visible.</a:t>
            </a:r>
          </a:p>
        </p:txBody>
      </p:sp>
      <p:sp>
        <p:nvSpPr>
          <p:cNvPr id="16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EBD8C64B-A27C-46E9-8375-24F7756E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B7891"/>
                </a:solidFill>
                <a:latin typeface="Helvetica Neue"/>
                <a:ea typeface="Helvetica Neue"/>
                <a:cs typeface="Helvetica Neue"/>
              </a:defRPr>
            </a:pPr>
            <a:r>
              <a:t>AVIASURVEIL360  •  SWOB  •  20 JUL 2026</a:t>
            </a:r>
          </a:p>
        </p:txBody>
      </p:sp>
      <p:sp>
        <p:nvSpPr>
          <p:cNvPr id="17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40582024-7E48-49F2-9564-C8CB374D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53175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3447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alidation-eyebrow">
            <a:extLst xmlns:a="http://schemas.openxmlformats.org/drawingml/2006/main">
              <a:ext uri="{FF2B5EF4-FFF2-40B4-BE49-F238E27FC236}">
                <a16:creationId xmlns:a16="http://schemas.microsoft.com/office/drawing/2014/main" id="{38F60456-A70F-4486-B889-F6EE2EE8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D6"/>
                </a:solidFill>
                <a:latin typeface="Helvetica Neue"/>
                <a:ea typeface="Helvetica Neue"/>
                <a:cs typeface="Helvetica Neue"/>
              </a:defRPr>
            </a:pPr>
            <a:r>
              <a:t>TODAY'S VALIDATION</a:t>
            </a:r>
          </a:p>
        </p:txBody>
      </p:sp>
      <p:sp>
        <p:nvSpPr>
          <p:cNvPr id="2" name="validation-question">
            <a:extLst xmlns:a="http://schemas.openxmlformats.org/drawingml/2006/main">
              <a:ext uri="{FF2B5EF4-FFF2-40B4-BE49-F238E27FC236}">
                <a16:creationId xmlns:a16="http://schemas.microsoft.com/office/drawing/2014/main" id="{1A58DAAB-7AD2-4B83-B3D9-9841A57D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9715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Does this workflow match how your authority wants to work?</a:t>
            </a:r>
          </a:p>
        </p:txBody>
      </p:sp>
      <p:sp>
        <p:nvSpPr>
          <p:cNvPr id="3" name="validation-rule">
            <a:extLst xmlns:a="http://schemas.openxmlformats.org/drawingml/2006/main">
              <a:ext uri="{FF2B5EF4-FFF2-40B4-BE49-F238E27FC236}">
                <a16:creationId xmlns:a16="http://schemas.microsoft.com/office/drawing/2014/main" id="{C1055B16-B657-4472-8911-65AC2448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628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alidation-list">
            <a:extLst xmlns:a="http://schemas.openxmlformats.org/drawingml/2006/main">
              <a:ext uri="{FF2B5EF4-FFF2-40B4-BE49-F238E27FC236}">
                <a16:creationId xmlns:a16="http://schemas.microsoft.com/office/drawing/2014/main" id="{498BDD1B-945B-4666-9BE6-62123388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8105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t>01  Confirm role and approval ownership
02  Validate severity, CAP, Evidence and closure rules
03  Select priority modules for the next MVP phase</a:t>
            </a:r>
          </a:p>
        </p:txBody>
      </p:sp>
      <p:sp>
        <p:nvSpPr>
          <p:cNvPr id="5" name="walkthrough-panel">
            <a:extLst xmlns:a="http://schemas.openxmlformats.org/drawingml/2006/main">
              <a:ext uri="{FF2B5EF4-FFF2-40B4-BE49-F238E27FC236}">
                <a16:creationId xmlns:a16="http://schemas.microsoft.com/office/drawing/2014/main" id="{44852F85-9F32-45F2-93C2-19F46AD1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52850"/>
            <a:ext cx="28003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E0E9"/>
            </a:solidFill>
            <a:prstDash val="solid"/>
          </a:ln>
        </p:spPr>
      </p:sp>
      <p:sp>
        <p:nvSpPr>
          <p:cNvPr id="6" name="walkthrough-label">
            <a:extLst xmlns:a="http://schemas.openxmlformats.org/drawingml/2006/main">
              <a:ext uri="{FF2B5EF4-FFF2-40B4-BE49-F238E27FC236}">
                <a16:creationId xmlns:a16="http://schemas.microsoft.com/office/drawing/2014/main" id="{11D1FA5A-209C-4D67-97F7-1CE9B042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00500"/>
            <a:ext cx="2171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891"/>
                </a:solidFill>
                <a:latin typeface="Helvetica Neue"/>
                <a:ea typeface="Helvetica Neue"/>
                <a:cs typeface="Helvetica Neue"/>
              </a:defRPr>
            </a:pPr>
            <a:r>
              <a:t>LIVE WALKTHROUGH</a:t>
            </a:r>
          </a:p>
        </p:txBody>
      </p:sp>
      <p:sp>
        <p:nvSpPr>
          <p:cNvPr id="7" name="walkthrough-copy">
            <a:extLst xmlns:a="http://schemas.openxmlformats.org/drawingml/2006/main">
              <a:ext uri="{FF2B5EF4-FFF2-40B4-BE49-F238E27FC236}">
                <a16:creationId xmlns:a16="http://schemas.microsoft.com/office/drawing/2014/main" id="{2005D828-6F94-4607-9CC1-D18EE9CB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81500"/>
            <a:ext cx="21526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Manager → Inspector
Service Provider → Inspector
Manager visibility</a:t>
            </a:r>
          </a:p>
        </p:txBody>
      </p:sp>
      <p:sp>
        <p:nvSpPr>
          <p:cNvPr id="8" name="pel-scope">
            <a:extLst xmlns:a="http://schemas.openxmlformats.org/drawingml/2006/main">
              <a:ext uri="{FF2B5EF4-FFF2-40B4-BE49-F238E27FC236}">
                <a16:creationId xmlns:a16="http://schemas.microsoft.com/office/drawing/2014/main" id="{CA7E04B4-2A2A-4DD3-A969-3A31C31C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891"/>
                </a:solidFill>
                <a:latin typeface="Helvetica Neue"/>
                <a:ea typeface="Helvetica Neue"/>
                <a:cs typeface="Helvetica Neue"/>
              </a:defRPr>
            </a:pPr>
            <a:r>
              <a:t>Personnel Licensing / AviaLicense remains a separate product track.</a:t>
            </a:r>
          </a:p>
        </p:txBody>
      </p:sp>
      <p:sp>
        <p:nvSpPr>
          <p:cNvPr id="9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28AE9AF8-653F-4191-8DEB-AB6A1EAF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B7891"/>
                </a:solidFill>
                <a:latin typeface="Helvetica Neue"/>
                <a:ea typeface="Helvetica Neue"/>
                <a:cs typeface="Helvetica Neue"/>
              </a:defRPr>
            </a:pPr>
            <a:r>
              <a:t>AVIASURVEIL360  •  SWOB  •  20 JUL 2026</a:t>
            </a:r>
          </a:p>
        </p:txBody>
      </p:sp>
      <p:sp>
        <p:nvSpPr>
          <p:cNvPr id="10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B16C450D-DD58-4DC4-A049-0B1AC2C1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53175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82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751545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2026-07-19T19:54:31.4040000Z</dcterms:created>
  <dcterms:modified xsi:type="dcterms:W3CDTF">2026-07-19T19:54:31.4040000Z</dcterms:modified>
</coreProperties>
</file>